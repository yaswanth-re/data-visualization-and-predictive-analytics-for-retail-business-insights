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Furniture</c:v>
                  </c:pt>
                  <c:pt idx="1">
                    <c:v>Office</c:v>
                  </c:pt>
                  <c:pt idx="2">
                    <c:v>Tech</c:v>
                  </c:pt>
                  <c:pt idx="3">
                    <c:v>Clothing</c:v>
                  </c:pt>
                  <c:pt idx="4">
                    <c:v>Appliances</c:v>
                  </c:pt>
                  <c:pt idx="5">
                    <c:v>Food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6100</c:v>
                </c:pt>
                <c:pt idx="1">
                  <c:v>6800</c:v>
                </c:pt>
                <c:pt idx="2">
                  <c:v>6000</c:v>
                </c:pt>
                <c:pt idx="3">
                  <c:v>5400</c:v>
                </c:pt>
                <c:pt idx="4">
                  <c:v>4700</c:v>
                </c:pt>
                <c:pt idx="5">
                  <c:v>4941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32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Prophet</c:v>
                  </c:pt>
                  <c:pt idx="1">
                    <c:v>Linear</c:v>
                  </c:pt>
                  <c:pt idx="2">
                    <c:v>ARIMA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5.8</c:v>
                </c:pt>
                <c:pt idx="1">
                  <c:v>8.9</c:v>
                </c:pt>
                <c:pt idx="2">
                  <c:v>6.7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C97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Prophet</c:v>
                  </c:pt>
                  <c:pt idx="1">
                    <c:v>Linear</c:v>
                  </c:pt>
                  <c:pt idx="2">
                    <c:v>ARIMA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7.1</c:v>
                </c:pt>
                <c:pt idx="1">
                  <c:v>10.6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0F766E"/>
            </a:solidFill>
            <a:ln w="25400" cap="flat">
              <a:solidFill>
                <a:srgbClr val="0F76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66E"/>
              </a:solidFill>
              <a:ln w="9525" cap="flat">
                <a:solidFill>
                  <a:srgbClr val="0F76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52</c:v>
                </c:pt>
                <c:pt idx="2">
                  <c:v>51</c:v>
                </c:pt>
                <c:pt idx="3">
                  <c:v>55</c:v>
                </c:pt>
                <c:pt idx="4">
                  <c:v>57</c:v>
                </c:pt>
                <c:pt idx="5">
                  <c:v>58</c:v>
                </c:pt>
                <c:pt idx="6">
                  <c:v>56</c:v>
                </c:pt>
                <c:pt idx="7">
                  <c:v>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Anomaly</c:v>
                </c:pt>
              </c:strCache>
            </c:strRef>
          </c:tx>
          <c:spPr>
            <a:solidFill>
              <a:srgbClr val="D64545"/>
            </a:solidFill>
            <a:ln w="25400" cap="flat">
              <a:solidFill>
                <a:srgbClr val="D645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64545"/>
              </a:solidFill>
              <a:ln w="9525" cap="flat">
                <a:solidFill>
                  <a:srgbClr val="D645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/>
                </c:pt>
                <c:pt idx="1">
                  <c:v/>
                </c:pt>
                <c:pt idx="2">
                  <c:v>68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>70</c:v>
                </c:pt>
                <c:pt idx="7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Profitability</c:v>
                </c:pt>
              </c:strCache>
            </c:strRef>
          </c:tx>
          <c:spPr>
            <a:solidFill>
              <a:srgbClr val="3A7D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West</c:v>
                  </c:pt>
                  <c:pt idx="1">
                    <c:v>East</c:v>
                  </c:pt>
                  <c:pt idx="2">
                    <c:v>Central</c:v>
                  </c:pt>
                  <c:pt idx="3">
                    <c:v>South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</c:v>
                </c:pt>
                <c:pt idx="1">
                  <c:v>74</c:v>
                </c:pt>
                <c:pt idx="2">
                  <c:v>63</c:v>
                </c:pt>
                <c:pt idx="3">
                  <c:v>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B57"/>
              </a:solidFill>
              <a:effectLst/>
            </c:spPr>
          </c:dPt>
          <c:dPt>
            <c:idx val="1"/>
            <c:bubble3D val="0"/>
            <c:spPr>
              <a:solidFill>
                <a:srgbClr val="F0C419"/>
              </a:solidFill>
              <a:effectLst/>
            </c:spPr>
          </c:dPt>
          <c:dPt>
            <c:idx val="2"/>
            <c:bubble3D val="0"/>
            <c:spPr>
              <a:solidFill>
                <a:srgbClr val="D6454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</c:v>
                </c:pt>
                <c:pt idx="1">
                  <c:v>Neutral</c:v>
                </c:pt>
                <c:pt idx="2">
                  <c:v>Negative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58</c:v>
                </c:pt>
                <c:pt idx="1">
                  <c:v>27</c:v>
                </c:pt>
                <c:pt idx="2">
                  <c:v>15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Count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 Value</c:v>
                  </c:pt>
                  <c:pt idx="1">
                    <c:v>Regular</c:v>
                  </c:pt>
                  <c:pt idx="2">
                    <c:v>At Risk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162</c:v>
                </c:pt>
                <c:pt idx="1">
                  <c:v>291</c:v>
                </c:pt>
                <c:pt idx="2">
                  <c:v>147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Furniture</c:v>
                  </c:pt>
                  <c:pt idx="1">
                    <c:v>Office</c:v>
                  </c:pt>
                  <c:pt idx="2">
                    <c:v>Tech</c:v>
                  </c:pt>
                  <c:pt idx="3">
                    <c:v>Clothing</c:v>
                  </c:pt>
                  <c:pt idx="4">
                    <c:v>Appliances</c:v>
                  </c:pt>
                  <c:pt idx="5">
                    <c:v>Food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28</c:v>
                </c:pt>
                <c:pt idx="2">
                  <c:v>22</c:v>
                </c:pt>
                <c:pt idx="3">
                  <c:v>15</c:v>
                </c:pt>
                <c:pt idx="4">
                  <c:v>18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</c:v>
                </c:pt>
              </c:strCache>
            </c:strRef>
          </c:tx>
          <c:spPr>
            <a:solidFill>
              <a:srgbClr val="C97B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Consumer</c:v>
                  </c:pt>
                  <c:pt idx="1">
                    <c:v>Corporate</c:v>
                  </c:pt>
                  <c:pt idx="2">
                    <c:v>Home Office</c:v>
                  </c:pt>
                  <c:pt idx="3">
                    <c:v>Small Biz</c:v>
                  </c:pt>
                  <c:pt idx="4">
                    <c:v>Online</c:v>
                  </c:pt>
                  <c:pt idx="5">
                    <c:v>Wholesale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16</c:v>
                </c:pt>
                <c:pt idx="2">
                  <c:v>11</c:v>
                </c:pt>
                <c:pt idx="3">
                  <c:v>9</c:v>
                </c:pt>
                <c:pt idx="4">
                  <c:v>14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B2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Current</c:v>
                  </c:pt>
                  <c:pt idx="1">
                    <c:v>Simulated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142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58368" y="694944"/>
            <a:ext cx="2926080" cy="365760"/>
          </a:xfrm>
          <a:prstGeom prst="roundRect">
            <a:avLst>
              <a:gd name="adj" fmla="val 37500"/>
            </a:avLst>
          </a:prstGeom>
          <a:solidFill>
            <a:srgbClr val="E7F5F3"/>
          </a:solidFill>
          <a:ln w="12700">
            <a:solidFill>
              <a:srgbClr val="CAE7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786384"/>
            <a:ext cx="2606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FINAL PROJECT PRESENTATION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9808" y="1243584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39"/>
                </a:solidFill>
              </a:rPr>
              <a:t>Data Visualization and Predictive Analytics for Retail Business Insights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86384" y="2697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6D7B"/>
                </a:solidFill>
              </a:rPr>
              <a:t>Prepared by: Yaswanth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999232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</a:rPr>
              <a:t>A complete decision-support dashboard for retail businesses</a:t>
            </a:r>
            <a:endParaRPr lang="en-US" sz="1400" dirty="0"/>
          </a:p>
        </p:txBody>
      </p:sp>
      <p:pic>
        <p:nvPicPr>
          <p:cNvPr id="10" name="Image 0" descr="C:\Users\yaswa\OneDrive\Desktop\Data Visualization and Predictive Analytics for Retail Business Insights”\slides_build\assets_generated\dashboard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024128"/>
            <a:ext cx="38862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Flow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This deck explains your project end to end with all features.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554480"/>
            <a:ext cx="5212080" cy="4480560"/>
          </a:xfrm>
          <a:prstGeom prst="roundRect">
            <a:avLst>
              <a:gd name="adj" fmla="val 1224"/>
            </a:avLst>
          </a:prstGeom>
          <a:solidFill>
            <a:srgbClr val="F4F8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6642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What We Will Cover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1965960"/>
            <a:ext cx="495604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Project objective and real-world problem.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System workflow and architecture.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Dataset profile and preprocessing.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Dashboard features and UI design.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Forecasting, anomaly detection, and simulation.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Automated insights and report exports.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Why this project is different and valuable.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166360" cy="4480560"/>
          </a:xfrm>
          <a:prstGeom prst="roundRect">
            <a:avLst>
              <a:gd name="adj" fmla="val 1224"/>
            </a:avLst>
          </a:prstGeom>
          <a:solidFill>
            <a:srgbClr val="EEF8F5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8504" y="1664208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Slide Groups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36792" y="1965960"/>
            <a:ext cx="491032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Slides 1-4: foundation and data setup.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Slides 5-10: core analytics and ML modules.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Slides 11-14: business impact and outputs.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Slides 15-16: uniqueness, adoption, and conclusion.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 and Project Goal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Retail teams need faster and smarter decisions from complex data.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5303520" cy="4389120"/>
          </a:xfrm>
          <a:prstGeom prst="roundRect">
            <a:avLst>
              <a:gd name="adj" fmla="val 1250"/>
            </a:avLst>
          </a:prstGeom>
          <a:solidFill>
            <a:srgbClr val="F5F8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09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Current Problems in Retail Reporting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50474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Huge raw data tables are hard to understand quickly.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Most reports show history but not future predictions.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Anomalies and risks are often identified too late.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Non-technical users struggle with analytics-heavy dashboards.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074920" cy="4389120"/>
          </a:xfrm>
          <a:prstGeom prst="roundRect">
            <a:avLst>
              <a:gd name="adj" fmla="val 1250"/>
            </a:avLst>
          </a:prstGeom>
          <a:solidFill>
            <a:srgbClr val="ECF7F4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7099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Our Project Goal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2512" y="2011680"/>
            <a:ext cx="48188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Build one interactive platform for analytics + prediction + action.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Make outputs easy for any viewer, including non-technical users.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Support business planning through scenario simulation.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Generate downloadable reports for management and presentations.</a:t>
            </a:r>
            <a:endParaRPr lang="en-US" sz="11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Workflow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How data flows from input to decision.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pic>
        <p:nvPicPr>
          <p:cNvPr id="8" name="Image 0" descr="C:\Users\yaswa\OneDrive\Desktop\Data Visualization and Predictive Analytics for Retail Business Insights”\slides_build\assets_generated\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17904"/>
            <a:ext cx="10570464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 Strength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Large and diverse dataset for realistic analytics testing.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600200"/>
            <a:ext cx="3840480" cy="4389120"/>
          </a:xfrm>
          <a:prstGeom prst="roundRect">
            <a:avLst>
              <a:gd name="adj" fmla="val 1429"/>
            </a:avLst>
          </a:prstGeom>
          <a:solidFill>
            <a:srgbClr val="F2F7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099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Dataset Highlights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011680"/>
            <a:ext cx="358444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Total records: 33,941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Date range: 2020 to 2025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Categories: 6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Segments: 6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Regions: 4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Customers: 600+</a:t>
            </a:r>
            <a:endParaRPr lang="en-US" sz="112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691640"/>
          <a:ext cx="64008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4846320" y="3840480"/>
            <a:ext cx="6400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92624" y="39502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Key Columns Used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010912" y="4251960"/>
            <a:ext cx="614476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Order Date: trend and forecasting timeline.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Category / Segment / Region: business drill-down.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Sales / Profit / Quantity / Discount: KPI + simulation.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Customer ID + Review: segmentation and sentiment analysis.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Preparation and Reliability Logic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Built to work even when uploaded CSV is partially incomplete.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8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0992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Preprocessing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500176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Read CSV and parse Order Date.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Apply user filters (date, region, category, segment).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Aggregate data monthly for forecasting.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Create derived fields for volatility and growth.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Prepare customer-level and product-level summaries.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EEF8F5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7099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Fallback Robustness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2512" y="2011680"/>
            <a:ext cx="481888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If Segment missing: add default segment value.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If Quantity missing: fallback to 1.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If Discount missing: fallback to 0.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If no CSV uploaded: auto-generate demo dataset.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Keeps dashboard stable for many CSV structures.</a:t>
            </a:r>
            <a:endParaRPr lang="en-US" sz="11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Interface and User Experience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Designed for both analysis depth and first-time viewer clarity.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pic>
        <p:nvPicPr>
          <p:cNvPr id="8" name="Image 0" descr="C:\Users\yaswa\OneDrive\Desktop\Data Visualization and Predictive Analytics for Retail Business Insights”\slides_build\assets_generated\dashboard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72768"/>
            <a:ext cx="7635240" cy="44805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49640" y="1591056"/>
            <a:ext cx="2743200" cy="4480560"/>
          </a:xfrm>
          <a:prstGeom prst="roundRect">
            <a:avLst>
              <a:gd name="adj" fmla="val 2000"/>
            </a:avLst>
          </a:prstGeom>
          <a:solidFill>
            <a:srgbClr val="FFF4E9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95944" y="170078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UX Features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714232" y="2002536"/>
            <a:ext cx="2487168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How-to-read section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Simple tab names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KPI meaning guide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Readable color system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Modern layout and animation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Filtered data preview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Visualization Modules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Clear charts for trend, comparison, ranking, and seasonal behavior.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pic>
        <p:nvPicPr>
          <p:cNvPr id="8" name="Image 0" descr="C:\Users\yaswa\OneDrive\Desktop\Data Visualization and Predictive Analytics for Retail Business Insights”\slides_build\assets_generated\feature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72768"/>
            <a:ext cx="1051560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Forecasting and Model Evaluation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The project predicts future sales/profit and validates model quality.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822960" y="1737360"/>
          <a:ext cx="61264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132320" y="1737360"/>
            <a:ext cx="4160520" cy="2697480"/>
          </a:xfrm>
          <a:prstGeom prst="roundRect">
            <a:avLst>
              <a:gd name="adj" fmla="val 2034"/>
            </a:avLst>
          </a:prstGeom>
          <a:solidFill>
            <a:srgbClr val="ECF7F4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78624" y="18470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Forecasting Features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296912" y="2148840"/>
            <a:ext cx="3904488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3 models: Prophet, ARIMA, Linear Regression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Automatic best model selection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Forecast horizon slider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Target vs actual chart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Scenario overlay forecast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2960" y="4572000"/>
            <a:ext cx="10469880" cy="1417320"/>
          </a:xfrm>
          <a:prstGeom prst="roundRect">
            <a:avLst>
              <a:gd name="adj" fmla="val 3871"/>
            </a:avLst>
          </a:prstGeom>
          <a:solidFill>
            <a:srgbClr val="FFF4EA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4681728"/>
            <a:ext cx="10195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Business Value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987552" y="4983480"/>
            <a:ext cx="1021384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Managers can plan inventory, budget, and sales targets with better confidence using forecast-backed decisions.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 Detection and Profitability Intelligence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Identify unusual patterns early and avoid operational surprises.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600200"/>
            <a:ext cx="3566160" cy="4434840"/>
          </a:xfrm>
          <a:prstGeom prst="roundRect">
            <a:avLst>
              <a:gd name="adj" fmla="val 1538"/>
            </a:avLst>
          </a:prstGeom>
          <a:solidFill>
            <a:srgbClr val="F4F8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170992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Risk Features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011680"/>
            <a:ext cx="33101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Anomaly detection (Isolation Forest)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Anomaly trend chart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Anomaly month table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Stock risk level alert</a:t>
            </a:r>
            <a:endParaRPr lang="en-US" sz="112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26280" y="1691640"/>
          <a:ext cx="67208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4526280" y="3913632"/>
          <a:ext cx="67208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Intelligence Features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Customer segmentation, churn risk, and sentiment understanding.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3840480" cy="4434840"/>
          </a:xfrm>
          <a:prstGeom prst="roundRect">
            <a:avLst>
              <a:gd name="adj" fmla="val 1429"/>
            </a:avLst>
          </a:prstGeom>
          <a:solidFill>
            <a:srgbClr val="EEF8F5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099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Customer Modules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358444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KMeans customer segmentation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High-value vs regular vs at-risk clusters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Churn-risk customer list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Sentiment analysis from review text</a:t>
            </a:r>
            <a:endParaRPr lang="en-US" sz="112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846320" y="1783080"/>
          <a:ext cx="32004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8229600" y="1783080"/>
          <a:ext cx="301752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hape 9"/>
          <p:cNvSpPr/>
          <p:nvPr/>
        </p:nvSpPr>
        <p:spPr>
          <a:xfrm>
            <a:off x="4846320" y="4526280"/>
            <a:ext cx="6400800" cy="1508760"/>
          </a:xfrm>
          <a:prstGeom prst="roundRect">
            <a:avLst>
              <a:gd name="adj" fmla="val 3636"/>
            </a:avLst>
          </a:prstGeom>
          <a:solidFill>
            <a:srgbClr val="FFF4E9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992624" y="46360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Why It Matters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010912" y="4937760"/>
            <a:ext cx="6144768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Retail teams can target customer retention offers and improve marketing ROI with customer-level intelligence.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Product, Category, and Segment Analytics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Deep drill-down for merchandising and promotion decisions.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5257800" cy="4389120"/>
          </a:xfrm>
          <a:prstGeom prst="roundRect">
            <a:avLst>
              <a:gd name="adj" fmla="val 1250"/>
            </a:avLst>
          </a:prstGeom>
          <a:solidFill>
            <a:srgbClr val="F4F8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0992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Feature Coverage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500176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Top sub-category performance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Product-pair recommendation insights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Discount impact analysis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Category performance chart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Segment performance chart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Category-vs-segment pivot view</a:t>
            </a:r>
            <a:endParaRPr lang="en-US" sz="112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17920" y="1737360"/>
          <a:ext cx="50749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Chart 1" descr=""/>
          <p:cNvGraphicFramePr/>
          <p:nvPr/>
        </p:nvGraphicFramePr>
        <p:xfrm>
          <a:off x="6217920" y="3931920"/>
          <a:ext cx="507492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Simulation Engine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Decision testing with Price, Demand, and Discount sliders.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45920"/>
            <a:ext cx="5120640" cy="2148840"/>
          </a:xfrm>
          <a:prstGeom prst="roundRect">
            <a:avLst>
              <a:gd name="adj" fmla="val 2553"/>
            </a:avLst>
          </a:prstGeom>
          <a:solidFill>
            <a:srgbClr val="EEF8F5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556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Input Controls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057400"/>
            <a:ext cx="486460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Price Increase %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Demand Change %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Discount Change %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Stock Buffer %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777240" y="3977640"/>
            <a:ext cx="5120640" cy="2011680"/>
          </a:xfrm>
          <a:prstGeom prst="roundRect">
            <a:avLst>
              <a:gd name="adj" fmla="val 2727"/>
            </a:avLst>
          </a:prstGeom>
          <a:solidFill>
            <a:srgbClr val="FFF4E9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40873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Output Comparison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41832" y="4389120"/>
            <a:ext cx="4864608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Current revenue vs simulated revenue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Scenario average forecast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Delta percentage in one view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Impact bar chart</a:t>
            </a:r>
            <a:endParaRPr lang="en-US" sz="112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172200" y="1783080"/>
          <a:ext cx="51206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Insights and Export System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From data to ready-to-share business communication.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EEF8F5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09928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Automated Text Insights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500176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Generates readable business sentences automatically.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Examples: 3-month trend direction, regional growth, volatility notes.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Adds anomaly findings and scenario outcomes.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Shown in dedicated Smart Insights section.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074920" cy="4434840"/>
          </a:xfrm>
          <a:prstGeom prst="roundRect">
            <a:avLst>
              <a:gd name="adj" fmla="val 1237"/>
            </a:avLst>
          </a:prstGeom>
          <a:solidFill>
            <a:srgbClr val="F4F8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64224" y="17099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Export Outputs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82512" y="2011680"/>
            <a:ext cx="481888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Filtered dataset CSV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Best forecast CSV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Analytics Excel report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Executive summary text file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PDF report with KPIs + charts + insights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Makes This Project Different from Others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A complete answer for your final comparison slide.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pic>
        <p:nvPicPr>
          <p:cNvPr id="8" name="Image 0" descr="C:\Users\yaswa\OneDrive\Desktop\Data Visualization and Predictive Analytics for Retail Business Insights”\slides_build\assets_generated\differentia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54480"/>
            <a:ext cx="1051560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46304"/>
            <a:ext cx="11795760" cy="6565392"/>
          </a:xfrm>
          <a:prstGeom prst="roundRect">
            <a:avLst>
              <a:gd name="adj" fmla="val 1114"/>
            </a:avLst>
          </a:prstGeom>
          <a:solidFill>
            <a:srgbClr val="FFFDF9"/>
          </a:solidFill>
          <a:ln w="12700">
            <a:solidFill>
              <a:srgbClr val="D9E0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355080"/>
            <a:ext cx="10424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</a:rPr>
              <a:t>Data Visualization and Predictive Analytics for Retail Business 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155680" y="634593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F766E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3840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B3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This Project Works for Different Users and Why We Should Use It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621792" y="85953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E6D7B"/>
                </a:solidFill>
              </a:rPr>
              <a:t>Final impact slide.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" y="1170432"/>
            <a:ext cx="10881360" cy="0"/>
          </a:xfrm>
          <a:prstGeom prst="line">
            <a:avLst/>
          </a:prstGeom>
          <a:noFill/>
          <a:ln w="12700">
            <a:solidFill>
              <a:srgbClr val="DE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600200"/>
            <a:ext cx="3429000" cy="3794760"/>
          </a:xfrm>
          <a:prstGeom prst="roundRect">
            <a:avLst>
              <a:gd name="adj" fmla="val 1600"/>
            </a:avLst>
          </a:prstGeom>
          <a:solidFill>
            <a:srgbClr val="ECF7F4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1709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For Managers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41832" y="2011680"/>
            <a:ext cx="317296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Track KPI health quickly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Use forecast for planning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Download presentation-ready reports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370832" y="1600200"/>
            <a:ext cx="3429000" cy="3794760"/>
          </a:xfrm>
          <a:prstGeom prst="roundRect">
            <a:avLst>
              <a:gd name="adj" fmla="val 1600"/>
            </a:avLst>
          </a:prstGeom>
          <a:solidFill>
            <a:srgbClr val="F4F8FC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7099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For Analysts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011680"/>
            <a:ext cx="3172968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Deep filter and drill-down analysis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Model comparison with MAE/RMSE/MAPE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Scenario testing for decisions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964424" y="1600200"/>
            <a:ext cx="3328416" cy="3794760"/>
          </a:xfrm>
          <a:prstGeom prst="roundRect">
            <a:avLst>
              <a:gd name="adj" fmla="val 1648"/>
            </a:avLst>
          </a:prstGeom>
          <a:solidFill>
            <a:srgbClr val="FFF4E9"/>
          </a:solidFill>
          <a:ln w="12700">
            <a:solidFill>
              <a:srgbClr val="D4DF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10728" y="1709928"/>
            <a:ext cx="3054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39"/>
                </a:solidFill>
              </a:rPr>
              <a:t>For Operations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9016" y="2011680"/>
            <a:ext cx="3072384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Anomaly alerts and risk identification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Inventory recommendation support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A3A49"/>
                </a:solidFill>
              </a:rPr>
              <a:t>Category, segment, and store ranking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77240" y="5760720"/>
            <a:ext cx="10515600" cy="475488"/>
          </a:xfrm>
          <a:prstGeom prst="roundRect">
            <a:avLst>
              <a:gd name="adj" fmla="val 9615"/>
            </a:avLst>
          </a:prstGeom>
          <a:solidFill>
            <a:srgbClr val="E9F3FB"/>
          </a:solidFill>
          <a:ln w="12700">
            <a:solidFill>
              <a:srgbClr val="D3E1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907024"/>
            <a:ext cx="101498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B39"/>
                </a:solidFill>
              </a:rPr>
              <a:t>Conclusion: This project is useful because it combines analysis, prediction, and action in one understandable platform.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Retail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Analytics Project - Enhanced Deck</dc:title>
  <dc:subject>Enhanced Project Presentation</dc:subject>
  <dc:creator>Yaswanth</dc:creator>
  <cp:lastModifiedBy>Yaswanth</cp:lastModifiedBy>
  <cp:revision>1</cp:revision>
  <dcterms:created xsi:type="dcterms:W3CDTF">2026-03-26T16:02:29Z</dcterms:created>
  <dcterms:modified xsi:type="dcterms:W3CDTF">2026-03-26T16:02:29Z</dcterms:modified>
</cp:coreProperties>
</file>